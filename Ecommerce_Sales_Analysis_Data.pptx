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Amazon</c:v>
                </c:pt>
              </c:strCache>
            </c:strRef>
          </c:tx>
          <c:spPr>
            <a:solidFill>
              <a:srgbClr val="2E75B6"/>
            </a:solidFill>
            <a:effectLst/>
          </c:spPr>
          <c:invertIfNegative val="0"/>
          <c:cat>
            <c:strRef>
              <c:f>Sheet1!$A$2:$A$7</c:f>
              <c:strCache>
                <c:ptCount val="6"/>
                <c:pt idx="0">
                  <c:v>Electronics</c:v>
                </c:pt>
                <c:pt idx="1">
                  <c:v>Automotive</c:v>
                </c:pt>
                <c:pt idx="2">
                  <c:v>Office</c:v>
                </c:pt>
                <c:pt idx="3">
                  <c:v>Sports</c:v>
                </c:pt>
                <c:pt idx="4">
                  <c:v>Beauty</c:v>
                </c:pt>
                <c:pt idx="5">
                  <c:v>Books</c:v>
                </c:pt>
              </c:strCache>
            </c:strRef>
          </c:cat>
          <c:val>
            <c:numRef>
              <c:f>Sheet1!$B$2:$B$7</c:f>
              <c:numCache>
                <c:formatCode>General</c:formatCode>
                <c:ptCount val="6"/>
                <c:pt idx="0">
                  <c:v>93.74</c:v>
                </c:pt>
                <c:pt idx="1">
                  <c:v>22.86</c:v>
                </c:pt>
                <c:pt idx="2">
                  <c:v>21.17</c:v>
                </c:pt>
                <c:pt idx="3">
                  <c:v>20.9</c:v>
                </c:pt>
                <c:pt idx="4">
                  <c:v>17.829999999999998</c:v>
                </c:pt>
                <c:pt idx="5">
                  <c:v>18.91</c:v>
                </c:pt>
              </c:numCache>
            </c:numRef>
          </c:val>
          <c:extLst>
            <c:ext xmlns:c16="http://schemas.microsoft.com/office/drawing/2014/chart" uri="{C3380CC4-5D6E-409C-BE32-E72D297353CC}">
              <c16:uniqueId val="{00000000-5257-4D92-8CBF-1633AFF30D2A}"/>
            </c:ext>
          </c:extLst>
        </c:ser>
        <c:ser>
          <c:idx val="1"/>
          <c:order val="1"/>
          <c:tx>
            <c:strRef>
              <c:f>Sheet1!$C$1</c:f>
              <c:strCache>
                <c:ptCount val="1"/>
                <c:pt idx="0">
                  <c:v>Flipkart</c:v>
                </c:pt>
              </c:strCache>
            </c:strRef>
          </c:tx>
          <c:spPr>
            <a:solidFill>
              <a:srgbClr val="ED7D31"/>
            </a:solidFill>
            <a:effectLst/>
          </c:spPr>
          <c:invertIfNegative val="0"/>
          <c:cat>
            <c:strRef>
              <c:f>Sheet1!$A$2:$A$7</c:f>
              <c:strCache>
                <c:ptCount val="6"/>
                <c:pt idx="0">
                  <c:v>Electronics</c:v>
                </c:pt>
                <c:pt idx="1">
                  <c:v>Automotive</c:v>
                </c:pt>
                <c:pt idx="2">
                  <c:v>Office</c:v>
                </c:pt>
                <c:pt idx="3">
                  <c:v>Sports</c:v>
                </c:pt>
                <c:pt idx="4">
                  <c:v>Beauty</c:v>
                </c:pt>
                <c:pt idx="5">
                  <c:v>Books</c:v>
                </c:pt>
              </c:strCache>
            </c:strRef>
          </c:cat>
          <c:val>
            <c:numRef>
              <c:f>Sheet1!$C$2:$C$7</c:f>
              <c:numCache>
                <c:formatCode>General</c:formatCode>
                <c:ptCount val="6"/>
                <c:pt idx="0">
                  <c:v>86.48</c:v>
                </c:pt>
                <c:pt idx="1">
                  <c:v>20.12</c:v>
                </c:pt>
                <c:pt idx="2">
                  <c:v>16.100000000000001</c:v>
                </c:pt>
                <c:pt idx="3">
                  <c:v>15.5</c:v>
                </c:pt>
                <c:pt idx="4">
                  <c:v>15.71</c:v>
                </c:pt>
                <c:pt idx="5">
                  <c:v>19.41</c:v>
                </c:pt>
              </c:numCache>
            </c:numRef>
          </c:val>
          <c:extLst>
            <c:ext xmlns:c16="http://schemas.microsoft.com/office/drawing/2014/chart" uri="{C3380CC4-5D6E-409C-BE32-E72D297353CC}">
              <c16:uniqueId val="{00000001-5257-4D92-8CBF-1633AFF30D2A}"/>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66666"/>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9D9D9"/>
              </a:solidFill>
              <a:prstDash val="solid"/>
              <a:round/>
            </a:ln>
          </c:spPr>
        </c:majorGridlines>
        <c:title>
          <c:tx>
            <c:rich>
              <a:bodyPr/>
              <a:lstStyle/>
              <a:p>
                <a:pPr>
                  <a:defRPr sz="1100" b="0" i="0" u="none" strike="noStrike">
                    <a:solidFill>
                      <a:srgbClr val="666666"/>
                    </a:solidFill>
                    <a:latin typeface="Arial"/>
                  </a:defRPr>
                </a:pPr>
                <a:r>
                  <a:rPr lang="en-IN" sz="1100" b="0" i="0" u="none" strike="noStrike" dirty="0">
                    <a:solidFill>
                      <a:srgbClr val="666666"/>
                    </a:solidFill>
                    <a:latin typeface="Arial"/>
                  </a:rPr>
                  <a:t>Revenue (₹ Lakhs)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66666"/>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333333"/>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Amazon</c:v>
                </c:pt>
              </c:strCache>
            </c:strRef>
          </c:tx>
          <c:spPr>
            <a:ln w="31750" cap="flat">
              <a:solidFill>
                <a:srgbClr val="2E75B6"/>
              </a:solidFill>
              <a:prstDash val="solid"/>
              <a:round/>
            </a:ln>
            <a:effectLst/>
          </c:spPr>
          <c:marker>
            <c:symbol val="circle"/>
            <c:size val="4"/>
            <c:spPr>
              <a:solidFill>
                <a:srgbClr val="2E75B6"/>
              </a:solidFill>
              <a:ln w="9525" cap="flat">
                <a:solidFill>
                  <a:srgbClr val="2E75B6"/>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14.9</c:v>
                </c:pt>
                <c:pt idx="1">
                  <c:v>13.5</c:v>
                </c:pt>
                <c:pt idx="2">
                  <c:v>16.3</c:v>
                </c:pt>
                <c:pt idx="3">
                  <c:v>15.3</c:v>
                </c:pt>
                <c:pt idx="4">
                  <c:v>16</c:v>
                </c:pt>
                <c:pt idx="5">
                  <c:v>14.2</c:v>
                </c:pt>
                <c:pt idx="6">
                  <c:v>14.9</c:v>
                </c:pt>
                <c:pt idx="7">
                  <c:v>16.5</c:v>
                </c:pt>
                <c:pt idx="8">
                  <c:v>14.6</c:v>
                </c:pt>
                <c:pt idx="9">
                  <c:v>44.2</c:v>
                </c:pt>
                <c:pt idx="10">
                  <c:v>61.5</c:v>
                </c:pt>
                <c:pt idx="11">
                  <c:v>21.4</c:v>
                </c:pt>
              </c:numCache>
            </c:numRef>
          </c:val>
          <c:smooth val="0"/>
          <c:extLst>
            <c:ext xmlns:c16="http://schemas.microsoft.com/office/drawing/2014/chart" uri="{C3380CC4-5D6E-409C-BE32-E72D297353CC}">
              <c16:uniqueId val="{00000000-A14B-4478-A245-EDDF74105E32}"/>
            </c:ext>
          </c:extLst>
        </c:ser>
        <c:ser>
          <c:idx val="1"/>
          <c:order val="1"/>
          <c:tx>
            <c:strRef>
              <c:f>Sheet1!$C$1</c:f>
              <c:strCache>
                <c:ptCount val="1"/>
                <c:pt idx="0">
                  <c:v>Flipkart</c:v>
                </c:pt>
              </c:strCache>
            </c:strRef>
          </c:tx>
          <c:spPr>
            <a:ln w="31750" cap="flat">
              <a:solidFill>
                <a:srgbClr val="ED7D31"/>
              </a:solidFill>
              <a:prstDash val="solid"/>
              <a:round/>
            </a:ln>
            <a:effectLst/>
          </c:spPr>
          <c:marker>
            <c:symbol val="circle"/>
            <c:size val="4"/>
            <c:spPr>
              <a:solidFill>
                <a:srgbClr val="ED7D31"/>
              </a:solidFill>
              <a:ln w="9525" cap="flat">
                <a:solidFill>
                  <a:srgbClr val="ED7D31"/>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14</c:v>
                </c:pt>
                <c:pt idx="1">
                  <c:v>14.8</c:v>
                </c:pt>
                <c:pt idx="2">
                  <c:v>15.5</c:v>
                </c:pt>
                <c:pt idx="3">
                  <c:v>16.5</c:v>
                </c:pt>
                <c:pt idx="4">
                  <c:v>13.9</c:v>
                </c:pt>
                <c:pt idx="5">
                  <c:v>16</c:v>
                </c:pt>
                <c:pt idx="6">
                  <c:v>17.2</c:v>
                </c:pt>
                <c:pt idx="7">
                  <c:v>15.2</c:v>
                </c:pt>
                <c:pt idx="8">
                  <c:v>39.1</c:v>
                </c:pt>
                <c:pt idx="9">
                  <c:v>44</c:v>
                </c:pt>
                <c:pt idx="10">
                  <c:v>21</c:v>
                </c:pt>
                <c:pt idx="11">
                  <c:v>21</c:v>
                </c:pt>
              </c:numCache>
            </c:numRef>
          </c:val>
          <c:smooth val="0"/>
          <c:extLst>
            <c:ext xmlns:c16="http://schemas.microsoft.com/office/drawing/2014/chart" uri="{C3380CC4-5D6E-409C-BE32-E72D297353CC}">
              <c16:uniqueId val="{00000001-A14B-4478-A245-EDDF74105E32}"/>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666666"/>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9D9D9"/>
              </a:solidFill>
              <a:prstDash val="solid"/>
              <a:round/>
            </a:ln>
          </c:spPr>
        </c:majorGridlines>
        <c:title>
          <c:tx>
            <c:rich>
              <a:bodyPr/>
              <a:lstStyle/>
              <a:p>
                <a:pPr>
                  <a:defRPr sz="1100" b="0" i="0" u="none" strike="noStrike">
                    <a:solidFill>
                      <a:srgbClr val="666666"/>
                    </a:solidFill>
                    <a:latin typeface="Arial"/>
                  </a:defRPr>
                </a:pPr>
                <a:r>
                  <a:rPr lang="en-IN" sz="1100" b="0" i="0" u="none" strike="noStrike" dirty="0">
                    <a:solidFill>
                      <a:srgbClr val="666666"/>
                    </a:solidFill>
                    <a:latin typeface="Arial"/>
                  </a:rPr>
                  <a:t>Revenue (₹ Lakhs)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50" b="0" i="0" u="none" strike="noStrike">
                <a:solidFill>
                  <a:srgbClr val="666666"/>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333333"/>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262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6774" y="1605333"/>
            <a:ext cx="10881360" cy="914400"/>
          </a:xfrm>
          <a:prstGeom prst="rect">
            <a:avLst/>
          </a:prstGeom>
          <a:noFill/>
          <a:ln/>
        </p:spPr>
        <p:txBody>
          <a:bodyPr wrap="square" lIns="0" tIns="0" rIns="0" bIns="0" rtlCol="0" anchor="ctr"/>
          <a:lstStyle/>
          <a:p>
            <a:pPr marL="0" indent="0">
              <a:buNone/>
            </a:pPr>
            <a:r>
              <a:rPr lang="en-US" sz="6000" b="1" dirty="0">
                <a:solidFill>
                  <a:srgbClr val="1F3864"/>
                </a:solidFill>
                <a:latin typeface="Calibri" pitchFamily="34" charset="0"/>
                <a:ea typeface="Calibri" pitchFamily="34" charset="-122"/>
                <a:cs typeface="Calibri" pitchFamily="34" charset="-120"/>
              </a:rPr>
              <a:t>E-COMMERCE SALES ANALYSIS</a:t>
            </a:r>
            <a:endParaRPr lang="en-US" sz="6000" dirty="0"/>
          </a:p>
        </p:txBody>
      </p:sp>
      <p:sp>
        <p:nvSpPr>
          <p:cNvPr id="3" name="Text 1"/>
          <p:cNvSpPr/>
          <p:nvPr/>
        </p:nvSpPr>
        <p:spPr>
          <a:xfrm>
            <a:off x="546774" y="2814346"/>
            <a:ext cx="10881360" cy="457200"/>
          </a:xfrm>
          <a:prstGeom prst="rect">
            <a:avLst/>
          </a:prstGeom>
          <a:noFill/>
          <a:ln/>
        </p:spPr>
        <p:txBody>
          <a:bodyPr wrap="square" lIns="0" tIns="0" rIns="0" bIns="0" rtlCol="0" anchor="ctr"/>
          <a:lstStyle/>
          <a:p>
            <a:pPr marL="0" indent="0">
              <a:buNone/>
            </a:pPr>
            <a:r>
              <a:rPr lang="en-US" sz="1800" i="1" dirty="0">
                <a:solidFill>
                  <a:srgbClr val="666666"/>
                </a:solidFill>
                <a:latin typeface="Calibri" pitchFamily="34" charset="0"/>
                <a:ea typeface="Calibri" pitchFamily="34" charset="-122"/>
                <a:cs typeface="Calibri" pitchFamily="34" charset="-120"/>
              </a:rPr>
              <a:t>Amazon vs. Flipkart: A Data-Driven Sales Comparison</a:t>
            </a:r>
            <a:endParaRPr lang="en-US" sz="1800" dirty="0"/>
          </a:p>
        </p:txBody>
      </p:sp>
      <p:sp>
        <p:nvSpPr>
          <p:cNvPr id="4" name="Shape 2"/>
          <p:cNvSpPr/>
          <p:nvPr/>
        </p:nvSpPr>
        <p:spPr>
          <a:xfrm>
            <a:off x="640080" y="3703320"/>
            <a:ext cx="2743200" cy="0"/>
          </a:xfrm>
          <a:prstGeom prst="line">
            <a:avLst/>
          </a:prstGeom>
          <a:noFill/>
          <a:ln w="25400">
            <a:solidFill>
              <a:srgbClr val="2E75B6"/>
            </a:solidFill>
            <a:prstDash val="solid"/>
          </a:ln>
        </p:spPr>
        <p:txBody>
          <a:bodyPr/>
          <a:lstStyle/>
          <a:p>
            <a:endParaRPr lang="en-IN" dirty="0"/>
          </a:p>
        </p:txBody>
      </p:sp>
      <p:sp>
        <p:nvSpPr>
          <p:cNvPr id="5" name="Text 3"/>
          <p:cNvSpPr/>
          <p:nvPr/>
        </p:nvSpPr>
        <p:spPr>
          <a:xfrm>
            <a:off x="640080" y="4023360"/>
            <a:ext cx="6400800" cy="2011680"/>
          </a:xfrm>
          <a:prstGeom prst="rect">
            <a:avLst/>
          </a:prstGeom>
          <a:noFill/>
          <a:ln/>
        </p:spPr>
        <p:txBody>
          <a:bodyPr wrap="square" lIns="0" tIns="0" rIns="0" bIns="0" rtlCol="0" anchor="ctr"/>
          <a:lstStyle/>
          <a:p>
            <a:pPr marL="0" indent="0">
              <a:lnSpc>
                <a:spcPct val="130000"/>
              </a:lnSpc>
              <a:buNone/>
            </a:pPr>
            <a:r>
              <a:rPr lang="en-US" sz="1500" b="1" dirty="0">
                <a:solidFill>
                  <a:srgbClr val="333333"/>
                </a:solidFill>
                <a:latin typeface="Calibri" pitchFamily="34" charset="0"/>
                <a:ea typeface="Calibri" pitchFamily="34" charset="-122"/>
                <a:cs typeface="Calibri" pitchFamily="34" charset="-120"/>
              </a:rPr>
              <a:t>Name: </a:t>
            </a:r>
            <a:endParaRPr lang="en-US" sz="1500" dirty="0"/>
          </a:p>
          <a:p>
            <a:pPr marL="0" indent="0">
              <a:lnSpc>
                <a:spcPct val="130000"/>
              </a:lnSpc>
              <a:buNone/>
            </a:pPr>
            <a:r>
              <a:rPr lang="en-US" sz="1500" dirty="0">
                <a:solidFill>
                  <a:srgbClr val="666666"/>
                </a:solidFill>
                <a:latin typeface="Calibri" pitchFamily="34" charset="0"/>
                <a:ea typeface="Calibri" pitchFamily="34" charset="-122"/>
                <a:cs typeface="Calibri" pitchFamily="34" charset="-120"/>
              </a:rPr>
              <a:t>Harmanpreet Singh</a:t>
            </a:r>
            <a:endParaRPr lang="en-US" sz="1500" dirty="0"/>
          </a:p>
          <a:p>
            <a:pPr marL="0" indent="0">
              <a:lnSpc>
                <a:spcPct val="130000"/>
              </a:lnSpc>
              <a:buNone/>
            </a:pPr>
            <a:r>
              <a:rPr lang="en-US" sz="600" dirty="0">
                <a:solidFill>
                  <a:srgbClr val="333333"/>
                </a:solidFill>
                <a:latin typeface="Calibri" pitchFamily="34" charset="0"/>
                <a:ea typeface="Calibri" pitchFamily="34" charset="-122"/>
                <a:cs typeface="Calibri" pitchFamily="34" charset="-120"/>
              </a:rPr>
              <a:t> </a:t>
            </a:r>
            <a:endParaRPr lang="en-US" sz="1500" dirty="0"/>
          </a:p>
          <a:p>
            <a:pPr marL="0" indent="0">
              <a:lnSpc>
                <a:spcPct val="130000"/>
              </a:lnSpc>
              <a:buNone/>
            </a:pPr>
            <a:r>
              <a:rPr lang="en-US" sz="1500" b="1" dirty="0">
                <a:solidFill>
                  <a:srgbClr val="333333"/>
                </a:solidFill>
                <a:latin typeface="Calibri" pitchFamily="34" charset="0"/>
                <a:ea typeface="Calibri" pitchFamily="34" charset="-122"/>
                <a:cs typeface="Calibri" pitchFamily="34" charset="-120"/>
              </a:rPr>
              <a:t>Course: </a:t>
            </a:r>
            <a:endParaRPr lang="en-US" sz="1500" dirty="0"/>
          </a:p>
          <a:p>
            <a:pPr marL="0" indent="0">
              <a:lnSpc>
                <a:spcPct val="130000"/>
              </a:lnSpc>
              <a:buNone/>
            </a:pPr>
            <a:r>
              <a:rPr lang="en-US" sz="1500" dirty="0">
                <a:solidFill>
                  <a:srgbClr val="666666"/>
                </a:solidFill>
                <a:latin typeface="Calibri" pitchFamily="34" charset="0"/>
                <a:ea typeface="Calibri" pitchFamily="34" charset="-122"/>
                <a:cs typeface="Calibri" pitchFamily="34" charset="-120"/>
              </a:rPr>
              <a:t>Data Science &amp; Business Analytics</a:t>
            </a:r>
            <a:endParaRPr lang="en-US" sz="1500" dirty="0"/>
          </a:p>
          <a:p>
            <a:pPr marL="0" indent="0">
              <a:lnSpc>
                <a:spcPct val="130000"/>
              </a:lnSpc>
              <a:buNone/>
            </a:pPr>
            <a:r>
              <a:rPr lang="en-US" sz="600" dirty="0">
                <a:solidFill>
                  <a:srgbClr val="333333"/>
                </a:solidFill>
                <a:latin typeface="Calibri" pitchFamily="34" charset="0"/>
                <a:ea typeface="Calibri" pitchFamily="34" charset="-122"/>
                <a:cs typeface="Calibri" pitchFamily="34" charset="-120"/>
              </a:rPr>
              <a:t> </a:t>
            </a:r>
            <a:endParaRPr lang="en-US" sz="1500" dirty="0"/>
          </a:p>
          <a:p>
            <a:pPr marL="0" indent="0">
              <a:lnSpc>
                <a:spcPct val="130000"/>
              </a:lnSpc>
              <a:buNone/>
            </a:pPr>
            <a:r>
              <a:rPr lang="en-US" sz="1500" b="1" dirty="0">
                <a:solidFill>
                  <a:srgbClr val="333333"/>
                </a:solidFill>
                <a:latin typeface="Calibri" pitchFamily="34" charset="0"/>
                <a:ea typeface="Calibri" pitchFamily="34" charset="-122"/>
                <a:cs typeface="Calibri" pitchFamily="34" charset="-120"/>
              </a:rPr>
              <a:t>Date: </a:t>
            </a:r>
            <a:endParaRPr lang="en-US" sz="1500" dirty="0"/>
          </a:p>
          <a:p>
            <a:pPr marL="0" indent="0">
              <a:lnSpc>
                <a:spcPct val="130000"/>
              </a:lnSpc>
              <a:buNone/>
            </a:pPr>
            <a:r>
              <a:rPr lang="en-US" sz="1500" dirty="0">
                <a:solidFill>
                  <a:srgbClr val="666666"/>
                </a:solidFill>
                <a:latin typeface="Calibri" pitchFamily="34" charset="0"/>
                <a:ea typeface="Calibri" pitchFamily="34" charset="-122"/>
                <a:cs typeface="Calibri" pitchFamily="34" charset="-120"/>
              </a:rPr>
              <a:t>July 3,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lIns="0" tIns="0" rIns="0" bIns="0" rtlCol="0" anchor="ctr"/>
          <a:lstStyle/>
          <a:p>
            <a:pPr marL="0" indent="0">
              <a:buNone/>
            </a:pPr>
            <a:r>
              <a:rPr lang="en-US" sz="2800" b="1" dirty="0">
                <a:solidFill>
                  <a:srgbClr val="1F3864"/>
                </a:solidFill>
                <a:latin typeface="Calibri" pitchFamily="34" charset="0"/>
                <a:ea typeface="Calibri" pitchFamily="34" charset="-122"/>
                <a:cs typeface="Calibri" pitchFamily="34" charset="-120"/>
              </a:rPr>
              <a:t>Introduction</a:t>
            </a:r>
            <a:endParaRPr lang="en-US" sz="2800" dirty="0"/>
          </a:p>
        </p:txBody>
      </p:sp>
      <p:sp>
        <p:nvSpPr>
          <p:cNvPr id="3" name="Shape 1"/>
          <p:cNvSpPr/>
          <p:nvPr/>
        </p:nvSpPr>
        <p:spPr>
          <a:xfrm>
            <a:off x="640080" y="1115568"/>
            <a:ext cx="10881360" cy="0"/>
          </a:xfrm>
          <a:prstGeom prst="line">
            <a:avLst/>
          </a:prstGeom>
          <a:noFill/>
          <a:ln w="12700">
            <a:solidFill>
              <a:srgbClr val="D9D9D9"/>
            </a:solidFill>
            <a:prstDash val="solid"/>
          </a:ln>
        </p:spPr>
        <p:txBody>
          <a:bodyPr/>
          <a:lstStyle/>
          <a:p>
            <a:endParaRPr lang="en-IN" dirty="0"/>
          </a:p>
        </p:txBody>
      </p:sp>
      <p:sp>
        <p:nvSpPr>
          <p:cNvPr id="4" name="Text 2"/>
          <p:cNvSpPr/>
          <p:nvPr/>
        </p:nvSpPr>
        <p:spPr>
          <a:xfrm>
            <a:off x="621418" y="1371600"/>
            <a:ext cx="10881360" cy="731520"/>
          </a:xfrm>
          <a:prstGeom prst="rect">
            <a:avLst/>
          </a:prstGeom>
          <a:noFill/>
          <a:ln/>
        </p:spPr>
        <p:txBody>
          <a:bodyPr wrap="square" lIns="0" tIns="0" rIns="0" bIns="0" rtlCol="0" anchor="ctr"/>
          <a:lstStyle/>
          <a:p>
            <a:pPr>
              <a:lnSpc>
                <a:spcPct val="130000"/>
              </a:lnSpc>
            </a:pPr>
            <a:endParaRPr lang="en-US" sz="1600" dirty="0">
              <a:solidFill>
                <a:srgbClr val="333333"/>
              </a:solidFill>
              <a:latin typeface="Calibri" pitchFamily="34" charset="0"/>
              <a:ea typeface="Calibri" pitchFamily="34" charset="-122"/>
              <a:cs typeface="Calibri" pitchFamily="34" charset="-120"/>
            </a:endParaRPr>
          </a:p>
          <a:p>
            <a:pPr>
              <a:lnSpc>
                <a:spcPct val="130000"/>
              </a:lnSpc>
            </a:pPr>
            <a:endParaRPr lang="en-US" sz="1600" dirty="0">
              <a:solidFill>
                <a:srgbClr val="333333"/>
              </a:solidFill>
              <a:latin typeface="Calibri" pitchFamily="34" charset="0"/>
              <a:ea typeface="Calibri" pitchFamily="34" charset="-122"/>
              <a:cs typeface="Calibri" pitchFamily="34" charset="-120"/>
            </a:endParaRPr>
          </a:p>
          <a:p>
            <a:pPr>
              <a:lnSpc>
                <a:spcPct val="130000"/>
              </a:lnSpc>
            </a:pPr>
            <a:endParaRPr lang="en-US" sz="1600" dirty="0">
              <a:solidFill>
                <a:srgbClr val="333333"/>
              </a:solidFill>
              <a:latin typeface="Calibri" pitchFamily="34" charset="0"/>
              <a:ea typeface="Calibri" pitchFamily="34" charset="-122"/>
              <a:cs typeface="Calibri" pitchFamily="34" charset="-120"/>
            </a:endParaRPr>
          </a:p>
          <a:p>
            <a:pPr>
              <a:lnSpc>
                <a:spcPct val="130000"/>
              </a:lnSpc>
            </a:pPr>
            <a:r>
              <a:rPr lang="en-US" sz="1600" dirty="0">
                <a:solidFill>
                  <a:srgbClr val="333333"/>
                </a:solidFill>
                <a:latin typeface="Calibri" pitchFamily="34" charset="0"/>
                <a:ea typeface="Calibri" pitchFamily="34" charset="-122"/>
                <a:cs typeface="Calibri" pitchFamily="34" charset="-120"/>
              </a:rPr>
              <a:t>E-commerce has become the largest driver of retail growth in India, with Amazon and Flipkart as the two dominant platforms competing for the same customers. </a:t>
            </a:r>
          </a:p>
          <a:p>
            <a:pPr>
              <a:lnSpc>
                <a:spcPct val="130000"/>
              </a:lnSpc>
            </a:pPr>
            <a:endParaRPr lang="en-US" sz="1600" dirty="0">
              <a:solidFill>
                <a:srgbClr val="333333"/>
              </a:solidFill>
              <a:latin typeface="Calibri" pitchFamily="34" charset="0"/>
              <a:ea typeface="Calibri" pitchFamily="34" charset="-122"/>
              <a:cs typeface="Calibri" pitchFamily="34" charset="-120"/>
            </a:endParaRPr>
          </a:p>
          <a:p>
            <a:pPr>
              <a:lnSpc>
                <a:spcPct val="130000"/>
              </a:lnSpc>
            </a:pPr>
            <a:endParaRPr lang="en-US" sz="1600" dirty="0"/>
          </a:p>
        </p:txBody>
      </p:sp>
      <p:sp>
        <p:nvSpPr>
          <p:cNvPr id="5" name="Text 3"/>
          <p:cNvSpPr/>
          <p:nvPr/>
        </p:nvSpPr>
        <p:spPr>
          <a:xfrm>
            <a:off x="640080" y="2185229"/>
            <a:ext cx="7315200" cy="365760"/>
          </a:xfrm>
          <a:prstGeom prst="rect">
            <a:avLst/>
          </a:prstGeom>
          <a:noFill/>
          <a:ln/>
        </p:spPr>
        <p:txBody>
          <a:bodyPr wrap="square" lIns="0" tIns="0" rIns="0" bIns="0" rtlCol="0" anchor="ctr"/>
          <a:lstStyle/>
          <a:p>
            <a:pPr marL="0" indent="0">
              <a:buNone/>
            </a:pPr>
            <a:endParaRPr lang="en-US" sz="1600" b="1" dirty="0">
              <a:solidFill>
                <a:srgbClr val="1F3864"/>
              </a:solidFill>
              <a:latin typeface="Calibri" pitchFamily="34" charset="0"/>
              <a:ea typeface="Calibri" pitchFamily="34" charset="-122"/>
              <a:cs typeface="Calibri" pitchFamily="34" charset="-120"/>
            </a:endParaRPr>
          </a:p>
          <a:p>
            <a:pPr marL="0" indent="0">
              <a:buNone/>
            </a:pPr>
            <a:endParaRPr lang="en-US" sz="1600" b="1" dirty="0">
              <a:solidFill>
                <a:srgbClr val="1F3864"/>
              </a:solidFill>
              <a:latin typeface="Calibri" pitchFamily="34" charset="0"/>
              <a:ea typeface="Calibri" pitchFamily="34" charset="-122"/>
              <a:cs typeface="Calibri" pitchFamily="34" charset="-120"/>
            </a:endParaRPr>
          </a:p>
          <a:p>
            <a:pPr marL="0" indent="0">
              <a:buNone/>
            </a:pPr>
            <a:endParaRPr lang="en-US" sz="1600" b="1" dirty="0">
              <a:solidFill>
                <a:srgbClr val="1F3864"/>
              </a:solidFill>
              <a:latin typeface="Calibri" pitchFamily="34" charset="0"/>
              <a:ea typeface="Calibri" pitchFamily="34" charset="-122"/>
              <a:cs typeface="Calibri" pitchFamily="34" charset="-120"/>
            </a:endParaRPr>
          </a:p>
          <a:p>
            <a:pPr marL="0" indent="0">
              <a:buNone/>
            </a:pPr>
            <a:r>
              <a:rPr lang="en-US" sz="1600" b="1" dirty="0">
                <a:solidFill>
                  <a:srgbClr val="1F3864"/>
                </a:solidFill>
                <a:latin typeface="Calibri" pitchFamily="34" charset="0"/>
                <a:ea typeface="Calibri" pitchFamily="34" charset="-122"/>
                <a:cs typeface="Calibri" pitchFamily="34" charset="-120"/>
              </a:rPr>
              <a:t>Why this matters:</a:t>
            </a:r>
            <a:endParaRPr lang="en-US" sz="1600" dirty="0"/>
          </a:p>
        </p:txBody>
      </p:sp>
      <p:sp>
        <p:nvSpPr>
          <p:cNvPr id="6" name="Text 4"/>
          <p:cNvSpPr/>
          <p:nvPr/>
        </p:nvSpPr>
        <p:spPr>
          <a:xfrm>
            <a:off x="640080" y="2633098"/>
            <a:ext cx="10881360" cy="1618862"/>
          </a:xfrm>
          <a:prstGeom prst="rect">
            <a:avLst/>
          </a:prstGeom>
          <a:noFill/>
          <a:ln/>
        </p:spPr>
        <p:txBody>
          <a:bodyPr wrap="square" lIns="0" tIns="0" rIns="0" bIns="0" rtlCol="0" anchor="ctr"/>
          <a:lstStyle/>
          <a:p>
            <a:pPr>
              <a:lnSpc>
                <a:spcPct val="130000"/>
              </a:lnSpc>
              <a:spcAft>
                <a:spcPts val="1000"/>
              </a:spcAft>
              <a:buSzPct val="100000"/>
            </a:pPr>
            <a:endParaRPr lang="en-US" sz="1600" dirty="0">
              <a:solidFill>
                <a:srgbClr val="333333"/>
              </a:solidFill>
              <a:latin typeface="Calibri" pitchFamily="34" charset="0"/>
              <a:ea typeface="Calibri" pitchFamily="34" charset="-122"/>
              <a:cs typeface="Calibri" pitchFamily="34" charset="-120"/>
            </a:endParaRPr>
          </a:p>
          <a:p>
            <a:pPr>
              <a:lnSpc>
                <a:spcPct val="130000"/>
              </a:lnSpc>
              <a:spcAft>
                <a:spcPts val="1000"/>
              </a:spcAft>
              <a:buSzPct val="100000"/>
            </a:pPr>
            <a:endParaRPr lang="en-US" sz="1600" dirty="0">
              <a:solidFill>
                <a:srgbClr val="333333"/>
              </a:solidFill>
              <a:latin typeface="Calibri" pitchFamily="34" charset="0"/>
              <a:ea typeface="Calibri" pitchFamily="34" charset="-122"/>
              <a:cs typeface="Calibri" pitchFamily="34" charset="-120"/>
            </a:endParaRPr>
          </a:p>
          <a:p>
            <a:pPr marL="342900" indent="-342900">
              <a:lnSpc>
                <a:spcPct val="130000"/>
              </a:lnSpc>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Every order placed leaves behind real data on price, discount, category, rating, and timing.</a:t>
            </a:r>
            <a:endParaRPr lang="en-US" sz="1600" dirty="0"/>
          </a:p>
          <a:p>
            <a:pPr marL="342900" indent="-342900">
              <a:lnSpc>
                <a:spcPct val="130000"/>
              </a:lnSpc>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That data can show, in numbers, which platform actually performs better and why.</a:t>
            </a:r>
            <a:endParaRPr lang="en-US" sz="1600" dirty="0"/>
          </a:p>
          <a:p>
            <a:pPr marL="342900" indent="-342900">
              <a:lnSpc>
                <a:spcPct val="130000"/>
              </a:lnSpc>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Sellers and shoppers both benefit from knowing these patterns.</a:t>
            </a:r>
            <a:endParaRPr lang="en-US" sz="1600" dirty="0"/>
          </a:p>
        </p:txBody>
      </p:sp>
      <p:sp>
        <p:nvSpPr>
          <p:cNvPr id="7" name="Text 5"/>
          <p:cNvSpPr/>
          <p:nvPr/>
        </p:nvSpPr>
        <p:spPr>
          <a:xfrm>
            <a:off x="640080" y="4297680"/>
            <a:ext cx="10881360" cy="457200"/>
          </a:xfrm>
          <a:prstGeom prst="rect">
            <a:avLst/>
          </a:prstGeom>
          <a:noFill/>
          <a:ln/>
        </p:spPr>
        <p:txBody>
          <a:bodyPr wrap="square" lIns="0" tIns="0" rIns="0" bIns="0" rtlCol="0" anchor="ctr"/>
          <a:lstStyle/>
          <a:p>
            <a:pPr marL="0" indent="0">
              <a:buNone/>
            </a:pPr>
            <a:r>
              <a:rPr lang="en-US" sz="1400" i="1" dirty="0">
                <a:solidFill>
                  <a:srgbClr val="666666"/>
                </a:solidFill>
                <a:latin typeface="Calibri" pitchFamily="34" charset="0"/>
                <a:ea typeface="Calibri" pitchFamily="34" charset="-122"/>
                <a:cs typeface="Calibri" pitchFamily="34" charset="-120"/>
              </a:rPr>
              <a: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lIns="0" tIns="0" rIns="0" bIns="0" rtlCol="0" anchor="ctr"/>
          <a:lstStyle/>
          <a:p>
            <a:pPr marL="0" indent="0">
              <a:buNone/>
            </a:pPr>
            <a:r>
              <a:rPr lang="en-US" sz="2800" b="1" dirty="0">
                <a:solidFill>
                  <a:srgbClr val="1F3864"/>
                </a:solidFill>
                <a:latin typeface="Calibri" pitchFamily="34" charset="0"/>
                <a:ea typeface="Calibri" pitchFamily="34" charset="-122"/>
                <a:cs typeface="Calibri" pitchFamily="34" charset="-120"/>
              </a:rPr>
              <a:t>The Core Problem</a:t>
            </a:r>
            <a:endParaRPr lang="en-US" sz="2800" dirty="0"/>
          </a:p>
        </p:txBody>
      </p:sp>
      <p:sp>
        <p:nvSpPr>
          <p:cNvPr id="3" name="Shape 1"/>
          <p:cNvSpPr/>
          <p:nvPr/>
        </p:nvSpPr>
        <p:spPr>
          <a:xfrm>
            <a:off x="640080" y="1115568"/>
            <a:ext cx="10881360" cy="0"/>
          </a:xfrm>
          <a:prstGeom prst="line">
            <a:avLst/>
          </a:prstGeom>
          <a:noFill/>
          <a:ln w="12700">
            <a:solidFill>
              <a:srgbClr val="D9D9D9"/>
            </a:solidFill>
            <a:prstDash val="solid"/>
          </a:ln>
        </p:spPr>
        <p:txBody>
          <a:bodyPr/>
          <a:lstStyle/>
          <a:p>
            <a:endParaRPr lang="en-IN" dirty="0"/>
          </a:p>
        </p:txBody>
      </p:sp>
      <p:sp>
        <p:nvSpPr>
          <p:cNvPr id="4" name="Text 2"/>
          <p:cNvSpPr/>
          <p:nvPr/>
        </p:nvSpPr>
        <p:spPr>
          <a:xfrm>
            <a:off x="640080" y="1371600"/>
            <a:ext cx="7315200" cy="365760"/>
          </a:xfrm>
          <a:prstGeom prst="rect">
            <a:avLst/>
          </a:prstGeom>
          <a:noFill/>
          <a:ln/>
        </p:spPr>
        <p:txBody>
          <a:bodyPr wrap="square" lIns="0" tIns="0" rIns="0" bIns="0"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Problem Statement</a:t>
            </a:r>
            <a:endParaRPr lang="en-US" sz="1600" dirty="0"/>
          </a:p>
        </p:txBody>
      </p:sp>
      <p:sp>
        <p:nvSpPr>
          <p:cNvPr id="5" name="Text 3"/>
          <p:cNvSpPr/>
          <p:nvPr/>
        </p:nvSpPr>
        <p:spPr>
          <a:xfrm>
            <a:off x="640080" y="1783080"/>
            <a:ext cx="10881360" cy="1188720"/>
          </a:xfrm>
          <a:prstGeom prst="rect">
            <a:avLst/>
          </a:prstGeom>
          <a:noFill/>
          <a:ln/>
        </p:spPr>
        <p:txBody>
          <a:bodyPr wrap="square" lIns="0" tIns="0" rIns="0" bIns="0" rtlCol="0" anchor="ctr"/>
          <a:lstStyle/>
          <a:p>
            <a:pPr marL="0" indent="0">
              <a:lnSpc>
                <a:spcPct val="130000"/>
              </a:lnSpc>
              <a:buNone/>
            </a:pPr>
            <a:r>
              <a:rPr lang="en-US" sz="1600" dirty="0">
                <a:solidFill>
                  <a:srgbClr val="333333"/>
                </a:solidFill>
                <a:latin typeface="Calibri" pitchFamily="34" charset="0"/>
                <a:ea typeface="Calibri" pitchFamily="34" charset="-122"/>
                <a:cs typeface="Calibri" pitchFamily="34" charset="-120"/>
              </a:rPr>
              <a:t>Shoppers and sellers rarely see a clear, fact-based comparison of Amazon and Flipkart. Which platform sells more? Which categories perform best on each? Do festival sales actually move the needle? This project answers these questions using real transaction data.</a:t>
            </a:r>
            <a:endParaRPr lang="en-US" sz="1600" dirty="0"/>
          </a:p>
        </p:txBody>
      </p:sp>
      <p:sp>
        <p:nvSpPr>
          <p:cNvPr id="6" name="Text 4"/>
          <p:cNvSpPr/>
          <p:nvPr/>
        </p:nvSpPr>
        <p:spPr>
          <a:xfrm>
            <a:off x="640080" y="3108960"/>
            <a:ext cx="7315200" cy="365760"/>
          </a:xfrm>
          <a:prstGeom prst="rect">
            <a:avLst/>
          </a:prstGeom>
          <a:noFill/>
          <a:ln/>
        </p:spPr>
        <p:txBody>
          <a:bodyPr wrap="square" lIns="0" tIns="0" rIns="0" bIns="0"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Specific gaps this project addresses:</a:t>
            </a:r>
            <a:endParaRPr lang="en-US" sz="1600" dirty="0"/>
          </a:p>
        </p:txBody>
      </p:sp>
      <p:sp>
        <p:nvSpPr>
          <p:cNvPr id="7" name="Text 5"/>
          <p:cNvSpPr/>
          <p:nvPr/>
        </p:nvSpPr>
        <p:spPr>
          <a:xfrm>
            <a:off x="640080" y="3520440"/>
            <a:ext cx="10881360" cy="1828800"/>
          </a:xfrm>
          <a:prstGeom prst="rect">
            <a:avLst/>
          </a:prstGeom>
          <a:noFill/>
          <a:ln/>
        </p:spPr>
        <p:txBody>
          <a:bodyPr wrap="square" lIns="0" tIns="0" rIns="0" bIns="0" rtlCol="0" anchor="ctr"/>
          <a:lstStyle/>
          <a:p>
            <a:pPr marL="342900" indent="-342900">
              <a:lnSpc>
                <a:spcPct val="130000"/>
              </a:lnSpc>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No clear picture of which categories earn more revenue on each platform.</a:t>
            </a:r>
            <a:endParaRPr lang="en-US" sz="1600" dirty="0"/>
          </a:p>
          <a:p>
            <a:pPr marL="342900" indent="-342900">
              <a:lnSpc>
                <a:spcPct val="130000"/>
              </a:lnSpc>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Unclear how much festival sales (like Amazon's GIF or Flipkart's Big Billion Days) actually boost sales.</a:t>
            </a:r>
            <a:endParaRPr lang="en-US" sz="1600" dirty="0"/>
          </a:p>
          <a:p>
            <a:pPr marL="342900" indent="-342900">
              <a:lnSpc>
                <a:spcPct val="130000"/>
              </a:lnSpc>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No side-by-side view of discount levels and customer ratings across platforms.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lIns="0" tIns="0" rIns="0" bIns="0" rtlCol="0" anchor="ctr"/>
          <a:lstStyle/>
          <a:p>
            <a:pPr marL="0" indent="0">
              <a:buNone/>
            </a:pPr>
            <a:r>
              <a:rPr lang="en-US" sz="2800" b="1" dirty="0">
                <a:solidFill>
                  <a:srgbClr val="1F3864"/>
                </a:solidFill>
                <a:latin typeface="Calibri" pitchFamily="34" charset="0"/>
                <a:ea typeface="Calibri" pitchFamily="34" charset="-122"/>
                <a:cs typeface="Calibri" pitchFamily="34" charset="-120"/>
              </a:rPr>
              <a:t> Objectives</a:t>
            </a:r>
            <a:endParaRPr lang="en-US" sz="2800" dirty="0"/>
          </a:p>
        </p:txBody>
      </p:sp>
      <p:sp>
        <p:nvSpPr>
          <p:cNvPr id="3" name="Shape 1"/>
          <p:cNvSpPr/>
          <p:nvPr/>
        </p:nvSpPr>
        <p:spPr>
          <a:xfrm>
            <a:off x="640080" y="1115568"/>
            <a:ext cx="10881360" cy="0"/>
          </a:xfrm>
          <a:prstGeom prst="line">
            <a:avLst/>
          </a:prstGeom>
          <a:noFill/>
          <a:ln w="12700">
            <a:solidFill>
              <a:srgbClr val="D9D9D9"/>
            </a:solidFill>
            <a:prstDash val="solid"/>
          </a:ln>
        </p:spPr>
        <p:txBody>
          <a:bodyPr/>
          <a:lstStyle/>
          <a:p>
            <a:endParaRPr lang="en-IN" dirty="0"/>
          </a:p>
        </p:txBody>
      </p:sp>
      <p:sp>
        <p:nvSpPr>
          <p:cNvPr id="4" name="Text 2"/>
          <p:cNvSpPr/>
          <p:nvPr/>
        </p:nvSpPr>
        <p:spPr>
          <a:xfrm>
            <a:off x="640080" y="1554480"/>
            <a:ext cx="10881360" cy="3200400"/>
          </a:xfrm>
          <a:prstGeom prst="rect">
            <a:avLst/>
          </a:prstGeom>
          <a:noFill/>
          <a:ln/>
        </p:spPr>
        <p:txBody>
          <a:bodyPr wrap="square" lIns="0" tIns="0" rIns="0" bIns="0" rtlCol="0" anchor="ctr"/>
          <a:lstStyle/>
          <a:p>
            <a:pPr marL="342900" indent="-342900">
              <a:lnSpc>
                <a:spcPct val="150000"/>
              </a:lnSpc>
              <a:spcAft>
                <a:spcPts val="1800"/>
              </a:spcAft>
              <a:buSzPct val="100000"/>
              <a:buChar char="•"/>
            </a:pPr>
            <a:r>
              <a:rPr lang="en-US" sz="1800" dirty="0">
                <a:solidFill>
                  <a:srgbClr val="333333"/>
                </a:solidFill>
                <a:latin typeface="Calibri" pitchFamily="34" charset="0"/>
                <a:ea typeface="Calibri" pitchFamily="34" charset="-122"/>
                <a:cs typeface="Calibri" pitchFamily="34" charset="-120"/>
              </a:rPr>
              <a:t>Compare total sales revenue between Amazon and Flipkart, overall and by category.</a:t>
            </a:r>
            <a:endParaRPr lang="en-US" sz="1800" dirty="0"/>
          </a:p>
          <a:p>
            <a:pPr marL="342900" indent="-342900">
              <a:lnSpc>
                <a:spcPct val="150000"/>
              </a:lnSpc>
              <a:spcAft>
                <a:spcPts val="1800"/>
              </a:spcAft>
              <a:buSzPct val="100000"/>
              <a:buChar char="•"/>
            </a:pPr>
            <a:r>
              <a:rPr lang="en-US" sz="1800" dirty="0">
                <a:solidFill>
                  <a:srgbClr val="333333"/>
                </a:solidFill>
                <a:latin typeface="Calibri" pitchFamily="34" charset="0"/>
                <a:ea typeface="Calibri" pitchFamily="34" charset="-122"/>
                <a:cs typeface="Calibri" pitchFamily="34" charset="-120"/>
              </a:rPr>
              <a:t>Measure how festival sales affect monthly revenue on each platform.</a:t>
            </a:r>
            <a:endParaRPr lang="en-US" sz="1800" dirty="0"/>
          </a:p>
          <a:p>
            <a:pPr marL="342900" indent="-342900">
              <a:lnSpc>
                <a:spcPct val="150000"/>
              </a:lnSpc>
              <a:spcAft>
                <a:spcPts val="1800"/>
              </a:spcAft>
              <a:buSzPct val="100000"/>
              <a:buChar char="•"/>
            </a:pPr>
            <a:r>
              <a:rPr lang="en-US" sz="1800" dirty="0">
                <a:solidFill>
                  <a:srgbClr val="333333"/>
                </a:solidFill>
                <a:latin typeface="Calibri" pitchFamily="34" charset="0"/>
                <a:ea typeface="Calibri" pitchFamily="34" charset="-122"/>
                <a:cs typeface="Calibri" pitchFamily="34" charset="-120"/>
              </a:rPr>
              <a:t>Compare average discount levels and customer ratings across platforms.</a:t>
            </a:r>
          </a:p>
          <a:p>
            <a:pPr marL="342900" indent="-342900">
              <a:lnSpc>
                <a:spcPct val="150000"/>
              </a:lnSpc>
              <a:spcAft>
                <a:spcPts val="1800"/>
              </a:spcAft>
              <a:buSzPct val="100000"/>
              <a:buChar char="•"/>
            </a:pPr>
            <a:r>
              <a:rPr lang="en-US" dirty="0"/>
              <a:t>Compare which categories contribute more to total sales revenue across platform.</a:t>
            </a:r>
            <a:endParaRPr lang="en-US" sz="1800" dirty="0"/>
          </a:p>
          <a:p>
            <a:pPr marL="342900" indent="-342900">
              <a:lnSpc>
                <a:spcPct val="150000"/>
              </a:lnSpc>
              <a:spcAft>
                <a:spcPts val="1800"/>
              </a:spcAft>
              <a:buSzPct val="100000"/>
              <a:buChar char="•"/>
            </a:pPr>
            <a:r>
              <a:rPr lang="en-US" sz="1800" dirty="0">
                <a:solidFill>
                  <a:srgbClr val="333333"/>
                </a:solidFill>
                <a:latin typeface="Calibri" pitchFamily="34" charset="0"/>
                <a:ea typeface="Calibri" pitchFamily="34" charset="-122"/>
                <a:cs typeface="Calibri" pitchFamily="34" charset="-120"/>
              </a:rPr>
              <a:t>Turn these findings into clear, practical takeaways.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lIns="0" tIns="0" rIns="0" bIns="0" rtlCol="0" anchor="ctr"/>
          <a:lstStyle/>
          <a:p>
            <a:pPr marL="0" indent="0">
              <a:buNone/>
            </a:pPr>
            <a:r>
              <a:rPr lang="en-US" sz="2800" b="1" dirty="0">
                <a:solidFill>
                  <a:srgbClr val="1F3864"/>
                </a:solidFill>
                <a:latin typeface="Calibri" pitchFamily="34" charset="0"/>
                <a:ea typeface="Calibri" pitchFamily="34" charset="-122"/>
                <a:cs typeface="Calibri" pitchFamily="34" charset="-120"/>
              </a:rPr>
              <a:t>Methodology</a:t>
            </a:r>
            <a:endParaRPr lang="en-US" sz="2800" dirty="0"/>
          </a:p>
        </p:txBody>
      </p:sp>
      <p:sp>
        <p:nvSpPr>
          <p:cNvPr id="3" name="Shape 1"/>
          <p:cNvSpPr/>
          <p:nvPr/>
        </p:nvSpPr>
        <p:spPr>
          <a:xfrm>
            <a:off x="640080" y="1115568"/>
            <a:ext cx="10881360" cy="0"/>
          </a:xfrm>
          <a:prstGeom prst="line">
            <a:avLst/>
          </a:prstGeom>
          <a:noFill/>
          <a:ln w="12700">
            <a:solidFill>
              <a:srgbClr val="D9D9D9"/>
            </a:solidFill>
            <a:prstDash val="solid"/>
          </a:ln>
        </p:spPr>
        <p:txBody>
          <a:bodyPr/>
          <a:lstStyle/>
          <a:p>
            <a:endParaRPr lang="en-IN"/>
          </a:p>
        </p:txBody>
      </p:sp>
      <p:sp>
        <p:nvSpPr>
          <p:cNvPr id="4" name="Text 2"/>
          <p:cNvSpPr/>
          <p:nvPr/>
        </p:nvSpPr>
        <p:spPr>
          <a:xfrm>
            <a:off x="640080" y="1371600"/>
            <a:ext cx="7315200" cy="365760"/>
          </a:xfrm>
          <a:prstGeom prst="rect">
            <a:avLst/>
          </a:prstGeom>
          <a:noFill/>
          <a:ln/>
        </p:spPr>
        <p:txBody>
          <a:bodyPr wrap="square" lIns="0" tIns="0" rIns="0" bIns="0"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Dataset</a:t>
            </a:r>
            <a:endParaRPr lang="en-US" sz="1600" dirty="0"/>
          </a:p>
        </p:txBody>
      </p:sp>
      <p:sp>
        <p:nvSpPr>
          <p:cNvPr id="5" name="Text 3"/>
          <p:cNvSpPr/>
          <p:nvPr/>
        </p:nvSpPr>
        <p:spPr>
          <a:xfrm>
            <a:off x="640080" y="1783080"/>
            <a:ext cx="10881360" cy="1188720"/>
          </a:xfrm>
          <a:prstGeom prst="rect">
            <a:avLst/>
          </a:prstGeom>
          <a:noFill/>
          <a:ln/>
        </p:spPr>
        <p:txBody>
          <a:bodyPr wrap="square" lIns="0" tIns="0" rIns="0" bIns="0" rtlCol="0" anchor="ctr"/>
          <a:lstStyle/>
          <a:p>
            <a:pPr marL="342900" indent="-342900">
              <a:lnSpc>
                <a:spcPct val="130000"/>
              </a:lnSpc>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amazon_flipkart_sales_seasonal_3000.csv — 3,000 real Amazon &amp; Flipkart orders (Jan 2023–Dec 2025).</a:t>
            </a:r>
            <a:endParaRPr lang="en-US" sz="1600" dirty="0"/>
          </a:p>
          <a:p>
            <a:pPr marL="342900" indent="-342900">
              <a:lnSpc>
                <a:spcPct val="130000"/>
              </a:lnSpc>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Fields used: platform, category, actual &amp; discounted price, discount %, order date, state, rating, and festival sale tag.</a:t>
            </a:r>
            <a:endParaRPr lang="en-US" sz="1600" dirty="0"/>
          </a:p>
        </p:txBody>
      </p:sp>
      <p:sp>
        <p:nvSpPr>
          <p:cNvPr id="6" name="Text 4"/>
          <p:cNvSpPr/>
          <p:nvPr/>
        </p:nvSpPr>
        <p:spPr>
          <a:xfrm>
            <a:off x="640080" y="3063240"/>
            <a:ext cx="7315200" cy="365760"/>
          </a:xfrm>
          <a:prstGeom prst="rect">
            <a:avLst/>
          </a:prstGeom>
          <a:noFill/>
          <a:ln/>
        </p:spPr>
        <p:txBody>
          <a:bodyPr wrap="square" lIns="0" tIns="0" rIns="0" bIns="0" rtlCol="0" anchor="ctr"/>
          <a:lstStyle/>
          <a:p>
            <a:pPr marL="0" indent="0">
              <a:buNone/>
            </a:pPr>
            <a:endParaRPr lang="en-US" sz="1600" b="1" dirty="0">
              <a:solidFill>
                <a:srgbClr val="1F3864"/>
              </a:solidFill>
              <a:latin typeface="Calibri" pitchFamily="34" charset="0"/>
              <a:ea typeface="Calibri" pitchFamily="34" charset="-122"/>
              <a:cs typeface="Calibri" pitchFamily="34" charset="-120"/>
            </a:endParaRPr>
          </a:p>
          <a:p>
            <a:pPr marL="0" indent="0">
              <a:buNone/>
            </a:pPr>
            <a:r>
              <a:rPr lang="en-US" sz="1600" b="1" dirty="0">
                <a:solidFill>
                  <a:srgbClr val="1F3864"/>
                </a:solidFill>
                <a:latin typeface="Calibri" pitchFamily="34" charset="0"/>
                <a:ea typeface="Calibri" pitchFamily="34" charset="-122"/>
                <a:cs typeface="Calibri" pitchFamily="34" charset="-120"/>
              </a:rPr>
              <a:t>Tools</a:t>
            </a:r>
            <a:endParaRPr lang="en-US" sz="1600" dirty="0"/>
          </a:p>
        </p:txBody>
      </p:sp>
      <p:sp>
        <p:nvSpPr>
          <p:cNvPr id="7" name="Text 5"/>
          <p:cNvSpPr/>
          <p:nvPr/>
        </p:nvSpPr>
        <p:spPr>
          <a:xfrm>
            <a:off x="640080" y="3474720"/>
            <a:ext cx="10881360" cy="1097280"/>
          </a:xfrm>
          <a:prstGeom prst="rect">
            <a:avLst/>
          </a:prstGeom>
          <a:noFill/>
          <a:ln/>
        </p:spPr>
        <p:txBody>
          <a:bodyPr wrap="square" lIns="0" tIns="0" rIns="0" bIns="0" rtlCol="0" anchor="ctr"/>
          <a:lstStyle/>
          <a:p>
            <a:pPr marL="342900" indent="-342900">
              <a:lnSpc>
                <a:spcPct val="130000"/>
              </a:lnSpc>
              <a:spcAft>
                <a:spcPts val="1000"/>
              </a:spcAft>
              <a:buSzPct val="100000"/>
              <a:buChar char="•"/>
            </a:pPr>
            <a:endParaRPr lang="en-US" sz="1600" dirty="0">
              <a:solidFill>
                <a:srgbClr val="333333"/>
              </a:solidFill>
              <a:latin typeface="Calibri" pitchFamily="34" charset="0"/>
              <a:ea typeface="Calibri" pitchFamily="34" charset="-122"/>
              <a:cs typeface="Calibri" pitchFamily="34" charset="-120"/>
            </a:endParaRPr>
          </a:p>
          <a:p>
            <a:pPr marL="342900" indent="-342900">
              <a:lnSpc>
                <a:spcPct val="130000"/>
              </a:lnSpc>
              <a:spcAft>
                <a:spcPts val="1000"/>
              </a:spcAft>
              <a:buSzPct val="100000"/>
              <a:buChar char="•"/>
            </a:pPr>
            <a:endParaRPr lang="en-US" sz="1600" dirty="0">
              <a:solidFill>
                <a:srgbClr val="333333"/>
              </a:solidFill>
              <a:latin typeface="Calibri" pitchFamily="34" charset="0"/>
              <a:ea typeface="Calibri" pitchFamily="34" charset="-122"/>
              <a:cs typeface="Calibri" pitchFamily="34" charset="-120"/>
            </a:endParaRPr>
          </a:p>
          <a:p>
            <a:pPr marL="342900" indent="-342900">
              <a:lnSpc>
                <a:spcPct val="130000"/>
              </a:lnSpc>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Python (Pandas) to clean the data and calculate totals, averages, and monthly trends.</a:t>
            </a:r>
            <a:endParaRPr lang="en-US" sz="1600" dirty="0"/>
          </a:p>
          <a:p>
            <a:pPr marL="342900" indent="-342900">
              <a:lnSpc>
                <a:spcPct val="130000"/>
              </a:lnSpc>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Python(Matplotlib, Plotly and Seaborn) for the clear visualization of preprocessed data.</a:t>
            </a:r>
          </a:p>
          <a:p>
            <a:pPr marL="342900" indent="-342900">
              <a:lnSpc>
                <a:spcPct val="130000"/>
              </a:lnSpc>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Python(Streamlit) to make visually appealing and user – friendly dashboards.</a:t>
            </a:r>
            <a:endParaRPr lang="en-US" sz="1600" dirty="0"/>
          </a:p>
        </p:txBody>
      </p:sp>
      <p:sp>
        <p:nvSpPr>
          <p:cNvPr id="8" name="Text 6"/>
          <p:cNvSpPr/>
          <p:nvPr/>
        </p:nvSpPr>
        <p:spPr>
          <a:xfrm>
            <a:off x="640080" y="4846320"/>
            <a:ext cx="10881360" cy="548640"/>
          </a:xfrm>
          <a:prstGeom prst="rect">
            <a:avLst/>
          </a:prstGeom>
          <a:noFill/>
          <a:ln/>
        </p:spPr>
        <p:txBody>
          <a:bodyPr wrap="square" lIns="0" tIns="0" rIns="0" bIns="0" rtlCol="0" anchor="ctr"/>
          <a:lstStyle/>
          <a:p>
            <a:pPr marL="0" indent="0">
              <a:buNone/>
            </a:pP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lIns="0" tIns="0" rIns="0" bIns="0" rtlCol="0" anchor="ctr"/>
          <a:lstStyle/>
          <a:p>
            <a:pPr marL="0" indent="0">
              <a:buNone/>
            </a:pPr>
            <a:r>
              <a:rPr lang="en-US" sz="2800" b="1" dirty="0">
                <a:solidFill>
                  <a:srgbClr val="1F3864"/>
                </a:solidFill>
                <a:latin typeface="Calibri" pitchFamily="34" charset="0"/>
                <a:ea typeface="Calibri" pitchFamily="34" charset="-122"/>
                <a:cs typeface="Calibri" pitchFamily="34" charset="-120"/>
              </a:rPr>
              <a:t>Key Finding: Revenue by Category</a:t>
            </a:r>
            <a:endParaRPr lang="en-US" sz="2800" dirty="0"/>
          </a:p>
        </p:txBody>
      </p:sp>
      <p:sp>
        <p:nvSpPr>
          <p:cNvPr id="3" name="Shape 1"/>
          <p:cNvSpPr/>
          <p:nvPr/>
        </p:nvSpPr>
        <p:spPr>
          <a:xfrm>
            <a:off x="640080" y="1115568"/>
            <a:ext cx="10881360" cy="0"/>
          </a:xfrm>
          <a:prstGeom prst="line">
            <a:avLst/>
          </a:prstGeom>
          <a:noFill/>
          <a:ln w="12700">
            <a:solidFill>
              <a:srgbClr val="D9D9D9"/>
            </a:solidFill>
            <a:prstDash val="solid"/>
          </a:ln>
        </p:spPr>
        <p:txBody>
          <a:bodyPr/>
          <a:lstStyle/>
          <a:p>
            <a:endParaRPr lang="en-IN" dirty="0"/>
          </a:p>
        </p:txBody>
      </p:sp>
      <p:graphicFrame>
        <p:nvGraphicFramePr>
          <p:cNvPr id="4" name="Chart 0"/>
          <p:cNvGraphicFramePr/>
          <p:nvPr/>
        </p:nvGraphicFramePr>
        <p:xfrm>
          <a:off x="640080" y="1371600"/>
          <a:ext cx="1088136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640080" y="4663440"/>
            <a:ext cx="10881360" cy="1554480"/>
          </a:xfrm>
          <a:prstGeom prst="rect">
            <a:avLst/>
          </a:prstGeom>
          <a:noFill/>
          <a:ln/>
        </p:spPr>
        <p:txBody>
          <a:bodyPr wrap="square" lIns="0" tIns="0" rIns="0" bIns="0" rtlCol="0" anchor="ctr"/>
          <a:lstStyle/>
          <a:p>
            <a:pPr marL="342900" indent="-342900">
              <a:lnSpc>
                <a:spcPct val="130000"/>
              </a:lnSpc>
              <a:spcAft>
                <a:spcPts val="1000"/>
              </a:spcAft>
              <a:buSzPct val="100000"/>
              <a:buChar char="•"/>
            </a:pPr>
            <a:r>
              <a:rPr lang="en-US" sz="1300" dirty="0">
                <a:solidFill>
                  <a:srgbClr val="333333"/>
                </a:solidFill>
                <a:latin typeface="Calibri" pitchFamily="34" charset="0"/>
                <a:ea typeface="Calibri" pitchFamily="34" charset="-122"/>
                <a:cs typeface="Calibri" pitchFamily="34" charset="-120"/>
              </a:rPr>
              <a:t>Electronics is the clear leader on both platforms — ₹93.7L on Amazon and ₹86.5L on Flipkart, far ahead of any other category.</a:t>
            </a:r>
            <a:endParaRPr lang="en-US" sz="1300" dirty="0"/>
          </a:p>
          <a:p>
            <a:pPr marL="342900" indent="-342900">
              <a:lnSpc>
                <a:spcPct val="130000"/>
              </a:lnSpc>
              <a:spcAft>
                <a:spcPts val="1000"/>
              </a:spcAft>
              <a:buSzPct val="100000"/>
              <a:buChar char="•"/>
            </a:pPr>
            <a:r>
              <a:rPr lang="en-US" sz="1300" dirty="0">
                <a:solidFill>
                  <a:srgbClr val="333333"/>
                </a:solidFill>
                <a:latin typeface="Calibri" pitchFamily="34" charset="0"/>
                <a:ea typeface="Calibri" pitchFamily="34" charset="-122"/>
                <a:cs typeface="Calibri" pitchFamily="34" charset="-120"/>
              </a:rPr>
              <a:t>Amazon earns more in Automotive, Office, and Sports; Flipkart edges ahead in Books.</a:t>
            </a:r>
            <a:endParaRPr lang="en-US" sz="1300" dirty="0"/>
          </a:p>
          <a:p>
            <a:pPr marL="342900" indent="-342900">
              <a:lnSpc>
                <a:spcPct val="130000"/>
              </a:lnSpc>
              <a:spcAft>
                <a:spcPts val="1000"/>
              </a:spcAft>
              <a:buSzPct val="100000"/>
              <a:buChar char="•"/>
            </a:pPr>
            <a:r>
              <a:rPr lang="en-US" sz="1300" dirty="0">
                <a:solidFill>
                  <a:srgbClr val="333333"/>
                </a:solidFill>
                <a:latin typeface="Calibri" pitchFamily="34" charset="0"/>
                <a:ea typeface="Calibri" pitchFamily="34" charset="-122"/>
                <a:cs typeface="Calibri" pitchFamily="34" charset="-120"/>
              </a:rPr>
              <a:t>Across all categories, total revenue is close: ₹2.63 Cr for Amazon vs. ₹2.48 Cr for Flipkart.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lIns="0" tIns="0" rIns="0" bIns="0" rtlCol="0" anchor="ctr"/>
          <a:lstStyle/>
          <a:p>
            <a:pPr marL="0" indent="0">
              <a:buNone/>
            </a:pPr>
            <a:r>
              <a:rPr lang="en-US" sz="2800" b="1" dirty="0">
                <a:solidFill>
                  <a:srgbClr val="1F3864"/>
                </a:solidFill>
                <a:latin typeface="Calibri" pitchFamily="34" charset="0"/>
                <a:ea typeface="Calibri" pitchFamily="34" charset="-122"/>
                <a:cs typeface="Calibri" pitchFamily="34" charset="-120"/>
              </a:rPr>
              <a:t>Key Finding: Festival Sales Drive Revenue</a:t>
            </a:r>
            <a:endParaRPr lang="en-US" sz="2800" dirty="0"/>
          </a:p>
        </p:txBody>
      </p:sp>
      <p:sp>
        <p:nvSpPr>
          <p:cNvPr id="3" name="Shape 1"/>
          <p:cNvSpPr/>
          <p:nvPr/>
        </p:nvSpPr>
        <p:spPr>
          <a:xfrm>
            <a:off x="640080" y="1115568"/>
            <a:ext cx="10881360" cy="0"/>
          </a:xfrm>
          <a:prstGeom prst="line">
            <a:avLst/>
          </a:prstGeom>
          <a:noFill/>
          <a:ln w="12700">
            <a:solidFill>
              <a:srgbClr val="D9D9D9"/>
            </a:solidFill>
            <a:prstDash val="solid"/>
          </a:ln>
        </p:spPr>
        <p:txBody>
          <a:bodyPr/>
          <a:lstStyle/>
          <a:p>
            <a:endParaRPr lang="en-IN" dirty="0"/>
          </a:p>
        </p:txBody>
      </p:sp>
      <p:graphicFrame>
        <p:nvGraphicFramePr>
          <p:cNvPr id="4" name="Chart 0"/>
          <p:cNvGraphicFramePr/>
          <p:nvPr/>
        </p:nvGraphicFramePr>
        <p:xfrm>
          <a:off x="640080" y="1371600"/>
          <a:ext cx="1088136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640080" y="4572000"/>
            <a:ext cx="10881360" cy="1645920"/>
          </a:xfrm>
          <a:prstGeom prst="rect">
            <a:avLst/>
          </a:prstGeom>
          <a:noFill/>
          <a:ln/>
        </p:spPr>
        <p:txBody>
          <a:bodyPr wrap="square" lIns="0" tIns="0" rIns="0" bIns="0" rtlCol="0" anchor="ctr"/>
          <a:lstStyle/>
          <a:p>
            <a:pPr marL="342900" indent="-342900">
              <a:lnSpc>
                <a:spcPct val="130000"/>
              </a:lnSpc>
              <a:spcAft>
                <a:spcPts val="1000"/>
              </a:spcAft>
              <a:buSzPct val="100000"/>
              <a:buChar char="•"/>
            </a:pPr>
            <a:r>
              <a:rPr lang="en-US" sz="1300" dirty="0">
                <a:solidFill>
                  <a:srgbClr val="333333"/>
                </a:solidFill>
                <a:latin typeface="Calibri" pitchFamily="34" charset="0"/>
                <a:ea typeface="Calibri" pitchFamily="34" charset="-122"/>
                <a:cs typeface="Calibri" pitchFamily="34" charset="-120"/>
              </a:rPr>
              <a:t>Amazon's Great Indian Festival sale pushes November revenue to ₹61.5L — about 4x a normal month.</a:t>
            </a:r>
            <a:endParaRPr lang="en-US" sz="1300" dirty="0"/>
          </a:p>
          <a:p>
            <a:pPr marL="342900" indent="-342900">
              <a:lnSpc>
                <a:spcPct val="130000"/>
              </a:lnSpc>
              <a:spcAft>
                <a:spcPts val="1000"/>
              </a:spcAft>
              <a:buSzPct val="100000"/>
              <a:buChar char="•"/>
            </a:pPr>
            <a:r>
              <a:rPr lang="en-US" sz="1300" dirty="0">
                <a:solidFill>
                  <a:srgbClr val="333333"/>
                </a:solidFill>
                <a:latin typeface="Calibri" pitchFamily="34" charset="0"/>
                <a:ea typeface="Calibri" pitchFamily="34" charset="-122"/>
                <a:cs typeface="Calibri" pitchFamily="34" charset="-120"/>
              </a:rPr>
              <a:t>Flipkart's Big Billion Days sale drives a similar spike in September, reaching ₹39.1L.</a:t>
            </a:r>
            <a:endParaRPr lang="en-US" sz="1300" dirty="0"/>
          </a:p>
          <a:p>
            <a:pPr marL="342900" indent="-342900">
              <a:lnSpc>
                <a:spcPct val="130000"/>
              </a:lnSpc>
              <a:spcAft>
                <a:spcPts val="1000"/>
              </a:spcAft>
              <a:buSzPct val="100000"/>
              <a:buChar char="•"/>
            </a:pPr>
            <a:r>
              <a:rPr lang="en-US" sz="1300" dirty="0">
                <a:solidFill>
                  <a:srgbClr val="333333"/>
                </a:solidFill>
                <a:latin typeface="Calibri" pitchFamily="34" charset="0"/>
                <a:ea typeface="Calibri" pitchFamily="34" charset="-122"/>
                <a:cs typeface="Calibri" pitchFamily="34" charset="-120"/>
              </a:rPr>
              <a:t>Both platforms also jump sharply in October, right before their main festival events.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lIns="0" tIns="0" rIns="0" bIns="0" rtlCol="0" anchor="ctr"/>
          <a:lstStyle/>
          <a:p>
            <a:pPr marL="0" indent="0">
              <a:buNone/>
            </a:pPr>
            <a:r>
              <a:rPr lang="en-US" sz="2800" b="1" dirty="0">
                <a:solidFill>
                  <a:srgbClr val="1F3864"/>
                </a:solidFill>
                <a:latin typeface="Calibri" pitchFamily="34" charset="0"/>
                <a:ea typeface="Calibri" pitchFamily="34" charset="-122"/>
                <a:cs typeface="Calibri" pitchFamily="34" charset="-120"/>
              </a:rPr>
              <a:t>Additional Findings: Discounts &amp; Ratings</a:t>
            </a:r>
            <a:endParaRPr lang="en-US" sz="2800" dirty="0"/>
          </a:p>
        </p:txBody>
      </p:sp>
      <p:sp>
        <p:nvSpPr>
          <p:cNvPr id="3" name="Shape 1"/>
          <p:cNvSpPr/>
          <p:nvPr/>
        </p:nvSpPr>
        <p:spPr>
          <a:xfrm>
            <a:off x="640080" y="1115568"/>
            <a:ext cx="10881360" cy="0"/>
          </a:xfrm>
          <a:prstGeom prst="line">
            <a:avLst/>
          </a:prstGeom>
          <a:noFill/>
          <a:ln w="12700">
            <a:solidFill>
              <a:srgbClr val="D9D9D9"/>
            </a:solidFill>
            <a:prstDash val="solid"/>
          </a:ln>
        </p:spPr>
        <p:txBody>
          <a:bodyPr/>
          <a:lstStyle/>
          <a:p>
            <a:endParaRPr lang="en-IN" dirty="0"/>
          </a:p>
        </p:txBody>
      </p:sp>
      <p:sp>
        <p:nvSpPr>
          <p:cNvPr id="4" name="Text 2"/>
          <p:cNvSpPr/>
          <p:nvPr/>
        </p:nvSpPr>
        <p:spPr>
          <a:xfrm>
            <a:off x="640080" y="1463040"/>
            <a:ext cx="10881360" cy="3200400"/>
          </a:xfrm>
          <a:prstGeom prst="rect">
            <a:avLst/>
          </a:prstGeom>
          <a:noFill/>
          <a:ln/>
        </p:spPr>
        <p:txBody>
          <a:bodyPr wrap="square" lIns="0" tIns="0" rIns="0" bIns="0" rtlCol="0" anchor="ctr"/>
          <a:lstStyle/>
          <a:p>
            <a:pPr marL="342900" indent="-342900">
              <a:lnSpc>
                <a:spcPct val="140000"/>
              </a:lnSpc>
              <a:spcAft>
                <a:spcPts val="1400"/>
              </a:spcAft>
              <a:buSzPct val="100000"/>
              <a:buChar char="•"/>
            </a:pPr>
            <a:r>
              <a:rPr lang="en-US" sz="1600" dirty="0">
                <a:solidFill>
                  <a:srgbClr val="333333"/>
                </a:solidFill>
                <a:latin typeface="Calibri" pitchFamily="34" charset="0"/>
                <a:ea typeface="Calibri" pitchFamily="34" charset="-122"/>
                <a:cs typeface="Calibri" pitchFamily="34" charset="-120"/>
              </a:rPr>
              <a:t>Average discount: Amazon offers 32.4% off on average, Flipkart offers 31.8% — nearly identical.</a:t>
            </a:r>
            <a:endParaRPr lang="en-US" sz="1600" dirty="0"/>
          </a:p>
          <a:p>
            <a:pPr marL="342900" indent="-342900">
              <a:lnSpc>
                <a:spcPct val="140000"/>
              </a:lnSpc>
              <a:spcAft>
                <a:spcPts val="1400"/>
              </a:spcAft>
              <a:buSzPct val="100000"/>
              <a:buChar char="•"/>
            </a:pPr>
            <a:r>
              <a:rPr lang="en-US" sz="1600" dirty="0">
                <a:solidFill>
                  <a:srgbClr val="333333"/>
                </a:solidFill>
                <a:latin typeface="Calibri" pitchFamily="34" charset="0"/>
                <a:ea typeface="Calibri" pitchFamily="34" charset="-122"/>
                <a:cs typeface="Calibri" pitchFamily="34" charset="-120"/>
              </a:rPr>
              <a:t>Average customer rating: Amazon scores 3.80 out of 5, Flipkart scores 3.78 out of 5 — a virtual tie.</a:t>
            </a:r>
            <a:endParaRPr lang="en-US" sz="1600" dirty="0"/>
          </a:p>
          <a:p>
            <a:pPr marL="342900" indent="-342900">
              <a:lnSpc>
                <a:spcPct val="140000"/>
              </a:lnSpc>
              <a:spcAft>
                <a:spcPts val="1400"/>
              </a:spcAft>
              <a:buSzPct val="100000"/>
              <a:buChar char="•"/>
            </a:pPr>
            <a:r>
              <a:rPr lang="en-US" sz="1600" dirty="0">
                <a:solidFill>
                  <a:srgbClr val="333333"/>
                </a:solidFill>
                <a:latin typeface="Calibri" pitchFamily="34" charset="0"/>
                <a:ea typeface="Calibri" pitchFamily="34" charset="-122"/>
                <a:cs typeface="Calibri" pitchFamily="34" charset="-120"/>
              </a:rPr>
              <a:t>During festival sales, discounts go even higher: Amazon's GIF averages 33.0% off, and Flipkart's Big Billion Days averages 32.9% off.</a:t>
            </a:r>
            <a:endParaRPr lang="en-US" sz="1600" dirty="0"/>
          </a:p>
          <a:p>
            <a:pPr marL="342900" indent="-342900">
              <a:lnSpc>
                <a:spcPct val="140000"/>
              </a:lnSpc>
              <a:spcAft>
                <a:spcPts val="1400"/>
              </a:spcAft>
              <a:buSzPct val="100000"/>
              <a:buChar char="•"/>
            </a:pPr>
            <a:r>
              <a:rPr lang="en-US" sz="1600" dirty="0">
                <a:solidFill>
                  <a:srgbClr val="333333"/>
                </a:solidFill>
                <a:latin typeface="Calibri" pitchFamily="34" charset="0"/>
                <a:ea typeface="Calibri" pitchFamily="34" charset="-122"/>
                <a:cs typeface="Calibri" pitchFamily="34" charset="-120"/>
              </a:rPr>
              <a:t>Flipkart's Black Friday sale is smaller and less aggressive, averaging only 26.9% off.</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lIns="0" tIns="0" rIns="0" bIns="0" rtlCol="0" anchor="ctr"/>
          <a:lstStyle/>
          <a:p>
            <a:pPr marL="0" indent="0">
              <a:buNone/>
            </a:pPr>
            <a:r>
              <a:rPr lang="en-US" sz="2800" b="1" dirty="0">
                <a:solidFill>
                  <a:srgbClr val="1F3864"/>
                </a:solidFill>
                <a:latin typeface="Calibri" pitchFamily="34" charset="0"/>
                <a:ea typeface="Calibri" pitchFamily="34" charset="-122"/>
                <a:cs typeface="Calibri" pitchFamily="34" charset="-120"/>
              </a:rPr>
              <a:t>Conclusion</a:t>
            </a:r>
            <a:endParaRPr lang="en-US" sz="2800" dirty="0"/>
          </a:p>
        </p:txBody>
      </p:sp>
      <p:sp>
        <p:nvSpPr>
          <p:cNvPr id="3" name="Shape 1"/>
          <p:cNvSpPr/>
          <p:nvPr/>
        </p:nvSpPr>
        <p:spPr>
          <a:xfrm>
            <a:off x="640080" y="1115568"/>
            <a:ext cx="10881360" cy="0"/>
          </a:xfrm>
          <a:prstGeom prst="line">
            <a:avLst/>
          </a:prstGeom>
          <a:noFill/>
          <a:ln w="12700">
            <a:solidFill>
              <a:srgbClr val="D9D9D9"/>
            </a:solidFill>
            <a:prstDash val="solid"/>
          </a:ln>
        </p:spPr>
        <p:txBody>
          <a:bodyPr/>
          <a:lstStyle/>
          <a:p>
            <a:endParaRPr lang="en-IN" dirty="0"/>
          </a:p>
        </p:txBody>
      </p:sp>
      <p:sp>
        <p:nvSpPr>
          <p:cNvPr id="4" name="Text 2"/>
          <p:cNvSpPr/>
          <p:nvPr/>
        </p:nvSpPr>
        <p:spPr>
          <a:xfrm>
            <a:off x="640080" y="1417320"/>
            <a:ext cx="10881360" cy="1005840"/>
          </a:xfrm>
          <a:prstGeom prst="rect">
            <a:avLst/>
          </a:prstGeom>
          <a:noFill/>
          <a:ln/>
        </p:spPr>
        <p:txBody>
          <a:bodyPr wrap="square" lIns="0" tIns="0" rIns="0" bIns="0" rtlCol="0" anchor="ctr"/>
          <a:lstStyle/>
          <a:p>
            <a:pPr marL="0" indent="0">
              <a:lnSpc>
                <a:spcPct val="130000"/>
              </a:lnSpc>
              <a:buNone/>
            </a:pPr>
            <a:r>
              <a:rPr lang="en-US" sz="1600" dirty="0">
                <a:solidFill>
                  <a:srgbClr val="333333"/>
                </a:solidFill>
                <a:latin typeface="Calibri" pitchFamily="34" charset="0"/>
                <a:ea typeface="Calibri" pitchFamily="34" charset="-122"/>
                <a:cs typeface="Calibri" pitchFamily="34" charset="-120"/>
              </a:rPr>
              <a:t>Amazon and Flipkart are more evenly matched than expected — total revenue, average discounts, and average ratings are all very close. The biggest difference isn't the platform itself, but when and how each one runs its festival sales.</a:t>
            </a:r>
            <a:endParaRPr lang="en-US" sz="1600" dirty="0"/>
          </a:p>
        </p:txBody>
      </p:sp>
      <p:sp>
        <p:nvSpPr>
          <p:cNvPr id="5" name="Text 3"/>
          <p:cNvSpPr/>
          <p:nvPr/>
        </p:nvSpPr>
        <p:spPr>
          <a:xfrm>
            <a:off x="640080" y="2560320"/>
            <a:ext cx="7315200" cy="365760"/>
          </a:xfrm>
          <a:prstGeom prst="rect">
            <a:avLst/>
          </a:prstGeom>
          <a:noFill/>
          <a:ln/>
        </p:spPr>
        <p:txBody>
          <a:bodyPr wrap="square" lIns="0" tIns="0" rIns="0" bIns="0"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Main takeaways:</a:t>
            </a:r>
            <a:endParaRPr lang="en-US" sz="1600" dirty="0"/>
          </a:p>
        </p:txBody>
      </p:sp>
      <p:sp>
        <p:nvSpPr>
          <p:cNvPr id="6" name="Text 4"/>
          <p:cNvSpPr/>
          <p:nvPr/>
        </p:nvSpPr>
        <p:spPr>
          <a:xfrm>
            <a:off x="640080" y="2971800"/>
            <a:ext cx="10881360" cy="2011680"/>
          </a:xfrm>
          <a:prstGeom prst="rect">
            <a:avLst/>
          </a:prstGeom>
          <a:noFill/>
          <a:ln/>
        </p:spPr>
        <p:txBody>
          <a:bodyPr wrap="square" lIns="0" tIns="0" rIns="0" bIns="0" rtlCol="0" anchor="ctr"/>
          <a:lstStyle/>
          <a:p>
            <a:pPr marL="342900" indent="-342900">
              <a:lnSpc>
                <a:spcPct val="130000"/>
              </a:lnSpc>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Electronics drives the majority of revenue on both platforms — it's the category that matters most.</a:t>
            </a:r>
            <a:endParaRPr lang="en-US" sz="1600" dirty="0"/>
          </a:p>
          <a:p>
            <a:pPr marL="342900" indent="-342900">
              <a:lnSpc>
                <a:spcPct val="130000"/>
              </a:lnSpc>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Festival sale timing is a major revenue lever: Amazon's November GIF and Flipkart's September BBD each roughly quadruple monthly sales.</a:t>
            </a:r>
            <a:endParaRPr lang="en-US" sz="1600" dirty="0"/>
          </a:p>
          <a:p>
            <a:pPr marL="342900" indent="-342900">
              <a:lnSpc>
                <a:spcPct val="130000"/>
              </a:lnSpc>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Outside of category mix and sale timing, the two platforms perform almost identically on price, discounting, and customer satisfaction.</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lIns="0" tIns="0" rIns="0" bIns="0" rtlCol="0" anchor="ctr"/>
          <a:lstStyle/>
          <a:p>
            <a:pPr marL="0" indent="0">
              <a:buNone/>
            </a:pPr>
            <a:r>
              <a:rPr lang="en-US" sz="2800" b="1" dirty="0">
                <a:solidFill>
                  <a:srgbClr val="1F3864"/>
                </a:solidFill>
                <a:latin typeface="Calibri" pitchFamily="34" charset="0"/>
                <a:ea typeface="Calibri" pitchFamily="34" charset="-122"/>
                <a:cs typeface="Calibri" pitchFamily="34" charset="-120"/>
              </a:rPr>
              <a:t>Future Scope</a:t>
            </a:r>
            <a:endParaRPr lang="en-US" sz="2800" dirty="0"/>
          </a:p>
        </p:txBody>
      </p:sp>
      <p:sp>
        <p:nvSpPr>
          <p:cNvPr id="3" name="Shape 1"/>
          <p:cNvSpPr/>
          <p:nvPr/>
        </p:nvSpPr>
        <p:spPr>
          <a:xfrm>
            <a:off x="640080" y="1115568"/>
            <a:ext cx="10881360" cy="0"/>
          </a:xfrm>
          <a:prstGeom prst="line">
            <a:avLst/>
          </a:prstGeom>
          <a:noFill/>
          <a:ln w="12700">
            <a:solidFill>
              <a:srgbClr val="D9D9D9"/>
            </a:solidFill>
            <a:prstDash val="solid"/>
          </a:ln>
        </p:spPr>
        <p:txBody>
          <a:bodyPr/>
          <a:lstStyle/>
          <a:p>
            <a:endParaRPr lang="en-IN" dirty="0"/>
          </a:p>
        </p:txBody>
      </p:sp>
      <p:sp>
        <p:nvSpPr>
          <p:cNvPr id="4" name="Text 2"/>
          <p:cNvSpPr/>
          <p:nvPr/>
        </p:nvSpPr>
        <p:spPr>
          <a:xfrm>
            <a:off x="640080" y="1417320"/>
            <a:ext cx="7315200" cy="365760"/>
          </a:xfrm>
          <a:prstGeom prst="rect">
            <a:avLst/>
          </a:prstGeom>
          <a:noFill/>
          <a:ln/>
        </p:spPr>
        <p:txBody>
          <a:bodyPr wrap="square" lIns="0" tIns="0" rIns="0" bIns="0"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If we had more time:</a:t>
            </a:r>
            <a:endParaRPr lang="en-US" sz="1600" dirty="0"/>
          </a:p>
        </p:txBody>
      </p:sp>
      <p:sp>
        <p:nvSpPr>
          <p:cNvPr id="5" name="Text 3"/>
          <p:cNvSpPr/>
          <p:nvPr/>
        </p:nvSpPr>
        <p:spPr>
          <a:xfrm>
            <a:off x="640080" y="1828800"/>
            <a:ext cx="10881360" cy="1645920"/>
          </a:xfrm>
          <a:prstGeom prst="rect">
            <a:avLst/>
          </a:prstGeom>
          <a:noFill/>
          <a:ln/>
        </p:spPr>
        <p:txBody>
          <a:bodyPr wrap="square" lIns="0" tIns="0" rIns="0" bIns="0" rtlCol="0" anchor="ctr"/>
          <a:lstStyle/>
          <a:p>
            <a:pPr marL="342900" indent="-342900">
              <a:lnSpc>
                <a:spcPct val="130000"/>
              </a:lnSpc>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Study state-wise sales to see which regions favor which platform.</a:t>
            </a:r>
            <a:endParaRPr lang="en-US" sz="1600" dirty="0"/>
          </a:p>
          <a:p>
            <a:pPr marL="342900" indent="-342900">
              <a:lnSpc>
                <a:spcPct val="130000"/>
              </a:lnSpc>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Look at payment method trends (UPI, cards, cash on delivery) across platforms.</a:t>
            </a:r>
            <a:endParaRPr lang="en-US" sz="1600" dirty="0"/>
          </a:p>
          <a:p>
            <a:pPr marL="342900" indent="-342900">
              <a:lnSpc>
                <a:spcPct val="130000"/>
              </a:lnSpc>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Analyze customer review text to understand what drives higher or lower ratings.</a:t>
            </a:r>
            <a:endParaRPr lang="en-US" sz="1600" dirty="0"/>
          </a:p>
        </p:txBody>
      </p:sp>
      <p:sp>
        <p:nvSpPr>
          <p:cNvPr id="6" name="Text 4"/>
          <p:cNvSpPr/>
          <p:nvPr/>
        </p:nvSpPr>
        <p:spPr>
          <a:xfrm>
            <a:off x="640080" y="3657600"/>
            <a:ext cx="7315200" cy="365760"/>
          </a:xfrm>
          <a:prstGeom prst="rect">
            <a:avLst/>
          </a:prstGeom>
          <a:noFill/>
          <a:ln/>
        </p:spPr>
        <p:txBody>
          <a:bodyPr wrap="square" lIns="0" tIns="0" rIns="0" bIns="0"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Biggest challenge &amp; lesson:</a:t>
            </a:r>
            <a:endParaRPr lang="en-US" sz="1600" dirty="0"/>
          </a:p>
        </p:txBody>
      </p:sp>
      <p:sp>
        <p:nvSpPr>
          <p:cNvPr id="7" name="Text 5"/>
          <p:cNvSpPr/>
          <p:nvPr/>
        </p:nvSpPr>
        <p:spPr>
          <a:xfrm>
            <a:off x="640080" y="4069080"/>
            <a:ext cx="10881360" cy="1645920"/>
          </a:xfrm>
          <a:prstGeom prst="rect">
            <a:avLst/>
          </a:prstGeom>
          <a:noFill/>
          <a:ln/>
        </p:spPr>
        <p:txBody>
          <a:bodyPr wrap="square" lIns="0" tIns="0" rIns="0" bIns="0" rtlCol="0" anchor="ctr"/>
          <a:lstStyle/>
          <a:p>
            <a:pPr marL="342900" indent="-342900">
              <a:lnSpc>
                <a:spcPct val="130000"/>
              </a:lnSpc>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The dataset spans three years, so raw monthly totals had to be checked carefully to avoid mistaking yearly growth for seasonal patterns.</a:t>
            </a:r>
            <a:endParaRPr lang="en-US" sz="1600" dirty="0"/>
          </a:p>
          <a:p>
            <a:pPr marL="342900" indent="-342900">
              <a:lnSpc>
                <a:spcPct val="130000"/>
              </a:lnSpc>
              <a:spcAft>
                <a:spcPts val="1000"/>
              </a:spcAft>
              <a:buSzPct val="100000"/>
              <a:buChar char="•"/>
            </a:pPr>
            <a:r>
              <a:rPr lang="en-US" sz="1600" dirty="0">
                <a:solidFill>
                  <a:srgbClr val="333333"/>
                </a:solidFill>
                <a:latin typeface="Calibri" pitchFamily="34" charset="0"/>
                <a:ea typeface="Calibri" pitchFamily="34" charset="-122"/>
                <a:cs typeface="Calibri" pitchFamily="34" charset="-120"/>
              </a:rPr>
              <a:t> Lessons I learnt is always confirm what a spike in data actually represents before drawing conclusions from it.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2560320"/>
            <a:ext cx="12161520" cy="914400"/>
          </a:xfrm>
          <a:prstGeom prst="rect">
            <a:avLst/>
          </a:prstGeom>
          <a:noFill/>
          <a:ln/>
        </p:spPr>
        <p:txBody>
          <a:bodyPr wrap="square" lIns="0" tIns="0" rIns="0" bIns="0" rtlCol="0" anchor="ctr"/>
          <a:lstStyle/>
          <a:p>
            <a:pPr marL="0" indent="0" algn="ctr">
              <a:buNone/>
            </a:pPr>
            <a:r>
              <a:rPr lang="en-US" sz="7200" b="1" dirty="0">
                <a:solidFill>
                  <a:srgbClr val="1F3864"/>
                </a:solidFill>
                <a:latin typeface="Calibri" pitchFamily="34" charset="0"/>
                <a:ea typeface="Calibri" pitchFamily="34" charset="-122"/>
                <a:cs typeface="Calibri" pitchFamily="34" charset="-120"/>
              </a:rPr>
              <a:t>Thank You</a:t>
            </a:r>
            <a:endParaRPr lang="en-US" sz="7200" dirty="0"/>
          </a:p>
        </p:txBody>
      </p:sp>
      <p:sp>
        <p:nvSpPr>
          <p:cNvPr id="3" name="Text 1"/>
          <p:cNvSpPr/>
          <p:nvPr/>
        </p:nvSpPr>
        <p:spPr>
          <a:xfrm>
            <a:off x="0" y="3383280"/>
            <a:ext cx="12161520" cy="457200"/>
          </a:xfrm>
          <a:prstGeom prst="rect">
            <a:avLst/>
          </a:prstGeom>
          <a:noFill/>
          <a:ln/>
        </p:spPr>
        <p:txBody>
          <a:bodyPr wrap="square" lIns="0" tIns="0" rIns="0" bIns="0" rtlCol="0" anchor="ctr"/>
          <a:lstStyle/>
          <a:p>
            <a:pPr marL="0" indent="0" algn="ctr">
              <a:buNone/>
            </a:pPr>
            <a:endParaRPr lang="en-US" sz="1800" i="1" dirty="0">
              <a:solidFill>
                <a:srgbClr val="666666"/>
              </a:solidFill>
              <a:latin typeface="Calibri" pitchFamily="34" charset="0"/>
              <a:ea typeface="Calibri" pitchFamily="34" charset="-122"/>
              <a:cs typeface="Calibri" pitchFamily="34" charset="-120"/>
            </a:endParaRPr>
          </a:p>
          <a:p>
            <a:pPr marL="0" indent="0" algn="ctr">
              <a:buNone/>
            </a:pPr>
            <a:r>
              <a:rPr lang="en-US" sz="1800" i="1" dirty="0">
                <a:solidFill>
                  <a:srgbClr val="666666"/>
                </a:solidFill>
                <a:latin typeface="Calibri" pitchFamily="34" charset="0"/>
                <a:ea typeface="Calibri" pitchFamily="34" charset="-122"/>
                <a:cs typeface="Calibri" pitchFamily="34" charset="-120"/>
              </a:rPr>
              <a:t>  Questions &amp; Discussion Welcome</a:t>
            </a:r>
            <a:endParaRPr lang="en-US" sz="1800" dirty="0"/>
          </a:p>
        </p:txBody>
      </p:sp>
      <p:sp>
        <p:nvSpPr>
          <p:cNvPr id="4" name="Shape 2"/>
          <p:cNvSpPr/>
          <p:nvPr/>
        </p:nvSpPr>
        <p:spPr>
          <a:xfrm>
            <a:off x="4709160" y="4160520"/>
            <a:ext cx="2743200" cy="0"/>
          </a:xfrm>
          <a:prstGeom prst="line">
            <a:avLst/>
          </a:prstGeom>
          <a:noFill/>
          <a:ln w="19050">
            <a:solidFill>
              <a:srgbClr val="2E75B6"/>
            </a:solidFill>
            <a:prstDash val="solid"/>
          </a:ln>
        </p:spPr>
        <p:txBody>
          <a:bodyPr/>
          <a:lstStyle/>
          <a:p>
            <a:endParaRPr lang="en-IN" dirty="0"/>
          </a:p>
        </p:txBody>
      </p:sp>
      <p:sp>
        <p:nvSpPr>
          <p:cNvPr id="5" name="Text 3"/>
          <p:cNvSpPr/>
          <p:nvPr/>
        </p:nvSpPr>
        <p:spPr>
          <a:xfrm>
            <a:off x="0" y="4160520"/>
            <a:ext cx="12161520" cy="365760"/>
          </a:xfrm>
          <a:prstGeom prst="rect">
            <a:avLst/>
          </a:prstGeom>
          <a:noFill/>
          <a:ln/>
        </p:spPr>
        <p:txBody>
          <a:bodyPr wrap="square" lIns="0" tIns="0" rIns="0" bIns="0" rtlCol="0" anchor="ctr"/>
          <a:lstStyle/>
          <a:p>
            <a:pPr marL="0" indent="0" algn="ctr">
              <a:buNone/>
            </a:pP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646</TotalTime>
  <Words>820</Words>
  <Application>Microsoft Office PowerPoint</Application>
  <PresentationFormat>Widescreen</PresentationFormat>
  <Paragraphs>92</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Sales Analysis</dc:title>
  <dc:subject>PptxGenJS Presentation</dc:subject>
  <dc:creator>Student Name</dc:creator>
  <cp:lastModifiedBy>harmanpreet singh'</cp:lastModifiedBy>
  <cp:revision>4</cp:revision>
  <dcterms:created xsi:type="dcterms:W3CDTF">2026-07-05T18:16:13Z</dcterms:created>
  <dcterms:modified xsi:type="dcterms:W3CDTF">2026-07-06T15:15:35Z</dcterms:modified>
</cp:coreProperties>
</file>